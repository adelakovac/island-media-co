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e0d856ae4f435b" /><Relationship Type="http://schemas.openxmlformats.org/officeDocument/2006/relationships/extended-properties" Target="/docProps/app.xml" Id="Rf4b506d0b10f47b6" /><Relationship Type="http://schemas.openxmlformats.org/officeDocument/2006/relationships/officeDocument" Target="/ppt/presentation.xml" Id="R6f407d5048b9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52b4d7c2b4b95"/>
  </p:sldMasterIdLst>
  <p:notesMasterIdLst>
    <p:notesMasterId xmlns:r="http://schemas.openxmlformats.org/officeDocument/2006/relationships" r:id="Rb9d1cb1ab4e948c4"/>
  </p:notesMasterIdLst>
  <p:sldIdLst>
    <p:sldId xmlns:r="http://schemas.openxmlformats.org/officeDocument/2006/relationships" id="256" r:id="R173dcd3f58034ebb"/>
    <p:sldId xmlns:r="http://schemas.openxmlformats.org/officeDocument/2006/relationships" id="257" r:id="Rac5f4068ec2a4608"/>
    <p:sldId xmlns:r="http://schemas.openxmlformats.org/officeDocument/2006/relationships" id="258" r:id="Rf9e0497805c7433b"/>
    <p:sldId xmlns:r="http://schemas.openxmlformats.org/officeDocument/2006/relationships" id="259" r:id="Raddf7bb99da14b1d"/>
    <p:sldId xmlns:r="http://schemas.openxmlformats.org/officeDocument/2006/relationships" id="260" r:id="R6897ad6e566c43ea"/>
    <p:sldId xmlns:r="http://schemas.openxmlformats.org/officeDocument/2006/relationships" id="261" r:id="R4a001b4d0a574950"/>
    <p:sldId xmlns:r="http://schemas.openxmlformats.org/officeDocument/2006/relationships" id="262" r:id="Raeb6da1fc60f43de"/>
    <p:sldId xmlns:r="http://schemas.openxmlformats.org/officeDocument/2006/relationships" id="263" r:id="R53ed1290ee484301"/>
    <p:sldId xmlns:r="http://schemas.openxmlformats.org/officeDocument/2006/relationships" id="264" r:id="R5feda32740774780"/>
    <p:sldId xmlns:r="http://schemas.openxmlformats.org/officeDocument/2006/relationships" id="265" r:id="Rce4c61a0ec4f4a25"/>
    <p:sldId xmlns:r="http://schemas.openxmlformats.org/officeDocument/2006/relationships" id="266" r:id="R111b29797e004b3e"/>
    <p:sldId xmlns:r="http://schemas.openxmlformats.org/officeDocument/2006/relationships" id="267" r:id="R02e2170d65524b8f"/>
    <p:sldId xmlns:r="http://schemas.openxmlformats.org/officeDocument/2006/relationships" id="268" r:id="Rff63216b92f944b3"/>
    <p:sldId xmlns:r="http://schemas.openxmlformats.org/officeDocument/2006/relationships" id="269" r:id="Ra35f5e32ab4c407f"/>
    <p:sldId xmlns:r="http://schemas.openxmlformats.org/officeDocument/2006/relationships" id="270" r:id="Rbfe7fb8e5d5e4ad4"/>
    <p:sldId xmlns:r="http://schemas.openxmlformats.org/officeDocument/2006/relationships" id="271" r:id="R948fa5cff08549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cb938824794897" /><Relationship Type="http://schemas.openxmlformats.org/officeDocument/2006/relationships/slideMaster" Target="/ppt/slideMasters/slideMaster1.xml" Id="R61052b4d7c2b4b95" /><Relationship Type="http://schemas.openxmlformats.org/officeDocument/2006/relationships/notesMaster" Target="/ppt/notesMasters/notesMaster1.xml" Id="Rb9d1cb1ab4e948c4" /><Relationship Type="http://schemas.openxmlformats.org/officeDocument/2006/relationships/presProps" Target="/ppt/presProps.xml" Id="R88bdea1933f54fd4" /><Relationship Type="http://schemas.openxmlformats.org/officeDocument/2006/relationships/tableStyles" Target="/ppt/tableStyles.xml" Id="R6092412d7147416f" /><Relationship Type="http://schemas.openxmlformats.org/officeDocument/2006/relationships/slide" Target="/ppt/slides/slide1.xml" Id="R173dcd3f58034ebb" /><Relationship Type="http://schemas.openxmlformats.org/officeDocument/2006/relationships/slide" Target="/ppt/slides/slide2.xml" Id="Rac5f4068ec2a4608" /><Relationship Type="http://schemas.openxmlformats.org/officeDocument/2006/relationships/slide" Target="/ppt/slides/slide3.xml" Id="Rf9e0497805c7433b" /><Relationship Type="http://schemas.openxmlformats.org/officeDocument/2006/relationships/slide" Target="/ppt/slides/slide4.xml" Id="Raddf7bb99da14b1d" /><Relationship Type="http://schemas.openxmlformats.org/officeDocument/2006/relationships/slide" Target="/ppt/slides/slide5.xml" Id="R6897ad6e566c43ea" /><Relationship Type="http://schemas.openxmlformats.org/officeDocument/2006/relationships/slide" Target="/ppt/slides/slide6.xml" Id="R4a001b4d0a574950" /><Relationship Type="http://schemas.openxmlformats.org/officeDocument/2006/relationships/slide" Target="/ppt/slides/slide7.xml" Id="Raeb6da1fc60f43de" /><Relationship Type="http://schemas.openxmlformats.org/officeDocument/2006/relationships/slide" Target="/ppt/slides/slide8.xml" Id="R53ed1290ee484301" /><Relationship Type="http://schemas.openxmlformats.org/officeDocument/2006/relationships/slide" Target="/ppt/slides/slide9.xml" Id="R5feda32740774780" /><Relationship Type="http://schemas.openxmlformats.org/officeDocument/2006/relationships/slide" Target="/ppt/slides/slide10.xml" Id="Rce4c61a0ec4f4a25" /><Relationship Type="http://schemas.openxmlformats.org/officeDocument/2006/relationships/slide" Target="/ppt/slides/slide11.xml" Id="R111b29797e004b3e" /><Relationship Type="http://schemas.openxmlformats.org/officeDocument/2006/relationships/slide" Target="/ppt/slides/slide12.xml" Id="R02e2170d65524b8f" /><Relationship Type="http://schemas.openxmlformats.org/officeDocument/2006/relationships/slide" Target="/ppt/slides/slide13.xml" Id="Rff63216b92f944b3" /><Relationship Type="http://schemas.openxmlformats.org/officeDocument/2006/relationships/slide" Target="/ppt/slides/slide14.xml" Id="Ra35f5e32ab4c407f" /><Relationship Type="http://schemas.openxmlformats.org/officeDocument/2006/relationships/slide" Target="/ppt/slides/slide15.xml" Id="Rbfe7fb8e5d5e4ad4" /><Relationship Type="http://schemas.openxmlformats.org/officeDocument/2006/relationships/slide" Target="/ppt/slides/slide16.xml" Id="R948fa5cff085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89e532e559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sland Media Co">
      <a:dk1>
        <a:srgbClr val="101820"/>
      </a:dk1>
      <a:lt1>
        <a:srgbClr val="FFFFFF"/>
      </a:lt1>
      <a:dk2>
        <a:srgbClr val="17324D"/>
      </a:dk2>
      <a:lt2>
        <a:srgbClr val="F6F4EF"/>
      </a:lt2>
      <a:accent1>
        <a:srgbClr val="FF5A3D"/>
      </a:accent1>
      <a:accent2>
        <a:srgbClr val="17324D"/>
      </a:accent2>
      <a:accent3>
        <a:srgbClr val="08734D"/>
      </a:accent3>
      <a:accent4>
        <a:srgbClr val="945500"/>
      </a:accent4>
      <a:accent5>
        <a:srgbClr val="C33232"/>
      </a:accent5>
      <a:accent6>
        <a:srgbClr val="AAB3BA"/>
      </a:accent6>
      <a:hlink>
        <a:srgbClr val="FF5A3D"/>
      </a:hlink>
      <a:folHlink>
        <a:srgbClr val="17324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sland Media C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5ddfd01574175" /><Relationship Type="http://schemas.openxmlformats.org/officeDocument/2006/relationships/notesMaster" Target="/ppt/notesMasters/notesMaster1.xml" Id="R3913c9deab3c42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f04fac1714194" /><Relationship Type="http://schemas.openxmlformats.org/officeDocument/2006/relationships/notesMaster" Target="/ppt/notesMasters/notesMaster1.xml" Id="R19c943448897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895e9103a46b7" /><Relationship Type="http://schemas.openxmlformats.org/officeDocument/2006/relationships/notesMaster" Target="/ppt/notesMasters/notesMaster1.xml" Id="Rbb401067aa74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84161dabc4851" /><Relationship Type="http://schemas.openxmlformats.org/officeDocument/2006/relationships/notesMaster" Target="/ppt/notesMasters/notesMaster1.xml" Id="Racaaed1172ec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8f47f74fe4d13" /><Relationship Type="http://schemas.openxmlformats.org/officeDocument/2006/relationships/notesMaster" Target="/ppt/notesMasters/notesMaster1.xml" Id="R288027304016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9d5f1032c44ede" /><Relationship Type="http://schemas.openxmlformats.org/officeDocument/2006/relationships/notesMaster" Target="/ppt/notesMasters/notesMaster1.xml" Id="R5559de0b5f5c45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119fad00a1446e" /><Relationship Type="http://schemas.openxmlformats.org/officeDocument/2006/relationships/notesMaster" Target="/ppt/notesMasters/notesMaster1.xml" Id="R56945307ab8d41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f730a97dc640d6" /><Relationship Type="http://schemas.openxmlformats.org/officeDocument/2006/relationships/notesMaster" Target="/ppt/notesMasters/notesMaster1.xml" Id="Rf7a1a6986a4545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3f5e9a5a6147f5" /><Relationship Type="http://schemas.openxmlformats.org/officeDocument/2006/relationships/notesMaster" Target="/ppt/notesMasters/notesMaster1.xml" Id="Rbada6e6ac8fe46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988594402d4df9" /><Relationship Type="http://schemas.openxmlformats.org/officeDocument/2006/relationships/notesMaster" Target="/ppt/notesMasters/notesMaster1.xml" Id="Ra443dcd9317a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1088441994a0e" /><Relationship Type="http://schemas.openxmlformats.org/officeDocument/2006/relationships/notesMaster" Target="/ppt/notesMasters/notesMaster1.xml" Id="R94a9f5bf6fa247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ec35231ec042b7" /><Relationship Type="http://schemas.openxmlformats.org/officeDocument/2006/relationships/notesMaster" Target="/ppt/notesMasters/notesMaster1.xml" Id="Rc1635a1b2b6740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6163fc5aca4b2d" /><Relationship Type="http://schemas.openxmlformats.org/officeDocument/2006/relationships/notesMaster" Target="/ppt/notesMasters/notesMaster1.xml" Id="Rbee06e23e85e40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e69788681b4852" /><Relationship Type="http://schemas.openxmlformats.org/officeDocument/2006/relationships/notesMaster" Target="/ppt/notesMasters/notesMaster1.xml" Id="R1eb9e4a7e9b643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44e9d7e0c049ca" /><Relationship Type="http://schemas.openxmlformats.org/officeDocument/2006/relationships/notesMaster" Target="/ppt/notesMasters/notesMaster1.xml" Id="R977040ce194647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8e4920aaa34649" /><Relationship Type="http://schemas.openxmlformats.org/officeDocument/2006/relationships/notesMaster" Target="/ppt/notesMasters/notesMaster1.xml" Id="Reca33ba30bf542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 generation through Codex, bus and transport-hub image, generated 30 August 2026.</a:t>
            </a:r>
          </a:p>
          <a:p xmlns:a="http://schemas.openxmlformats.org/drawingml/2006/main">
            <a:r>
              <a:t>- Original Island Media Co identity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Island Media Co logo concept and rationale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Island Media Co logo files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Island Media Co logo usage rules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Colour contrast ratios calculated from the original palette using the WCAG relative luminance formula.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Avenir Next is a system font in the production environment. No font file is redistributed.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 generation through Codex, charging-station image, generated 30 August 2026.</a:t>
            </a:r>
          </a:p>
          <a:p xmlns:a="http://schemas.openxmlformats.org/drawingml/2006/main">
            <a:r>
              <a:t>- Original layout rules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interface tokens and accessibility rules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management interface template rendered from HTML and CSS created for this request.</a:t>
            </a:r>
          </a:p>
          <a:p xmlns:a="http://schemas.openxmlformats.org/drawingml/2006/main">
            <a:r>
              <a:t>- Fictional product context comes from the supplied Frameworks candidate pack.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client portal template rendered from HTML and CSS created for this request.</a:t>
            </a:r>
          </a:p>
          <a:p xmlns:a="http://schemas.openxmlformats.org/drawingml/2006/main">
            <a:r>
              <a:t>- The portal template includes OOH images generated with OpenAI image generation through Codex on 30 August 2026.</a:t>
            </a:r>
          </a:p>
          <a:p xmlns:a="http://schemas.openxmlformats.org/drawingml/2006/main">
            <a:r>
              <a:t>- Fictional product names and rates come from the supplied Frameworks candidate pack.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fitter mobile interface template rendered from HTML and CSS created for this request.</a:t>
            </a:r>
          </a:p>
          <a:p xmlns:a="http://schemas.openxmlformats.org/drawingml/2006/main">
            <a:r>
              <a:t>- Fictional job and product context comes from the supplied Frameworks candidate pack.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PowerPoint layout system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editable cover layout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editable content layout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editable image layout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editable decision-close layout created for this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b542f8b624d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baafed586e4a83" /><Relationship Type="http://schemas.openxmlformats.org/officeDocument/2006/relationships/slideLayout" Target="/ppt/slideLayouts/slideLayout1.xml" Id="R1cf0e84da9b741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0e84da9b741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sland Media Co">
      <a:dk1>
        <a:srgbClr val="101820"/>
      </a:dk1>
      <a:lt1>
        <a:srgbClr val="FFFFFF"/>
      </a:lt1>
      <a:dk2>
        <a:srgbClr val="17324D"/>
      </a:dk2>
      <a:lt2>
        <a:srgbClr val="F6F4EF"/>
      </a:lt2>
      <a:accent1>
        <a:srgbClr val="FF5A3D"/>
      </a:accent1>
      <a:accent2>
        <a:srgbClr val="17324D"/>
      </a:accent2>
      <a:accent3>
        <a:srgbClr val="08734D"/>
      </a:accent3>
      <a:accent4>
        <a:srgbClr val="945500"/>
      </a:accent4>
      <a:accent5>
        <a:srgbClr val="C33232"/>
      </a:accent5>
      <a:accent6>
        <a:srgbClr val="AAB3BA"/>
      </a:accent6>
      <a:hlink>
        <a:srgbClr val="FF5A3D"/>
      </a:hlink>
      <a:folHlink>
        <a:srgbClr val="17324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sland Media C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5878a558a432b" /><Relationship Type="http://schemas.openxmlformats.org/officeDocument/2006/relationships/image" Target="/ppt/media/image.png" Id="R02dcf12cde804f69" /><Relationship Type="http://schemas.openxmlformats.org/officeDocument/2006/relationships/image" Target="/ppt/media/image2.png" Id="R7ac1b9f709ed4836" /><Relationship Type="http://schemas.openxmlformats.org/officeDocument/2006/relationships/notesSlide" Target="/ppt/notesSlides/notesSlide1.xml" Id="R0f378a0d13c9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74af85e764404" /><Relationship Type="http://schemas.openxmlformats.org/officeDocument/2006/relationships/image" Target="/ppt/media/image3.png" Id="Rcac740018627410e" /><Relationship Type="http://schemas.openxmlformats.org/officeDocument/2006/relationships/notesSlide" Target="/ppt/notesSlides/notesSlide2.xml" Id="R61a46721291d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94ac4afe24db6" /><Relationship Type="http://schemas.openxmlformats.org/officeDocument/2006/relationships/image" Target="/ppt/media/image4.png" Id="R3e1989b68cd84180" /><Relationship Type="http://schemas.openxmlformats.org/officeDocument/2006/relationships/image" Target="/ppt/media/image5.png" Id="R11d4e7ed4de14ce1" /><Relationship Type="http://schemas.openxmlformats.org/officeDocument/2006/relationships/image" Target="/ppt/media/image6.png" Id="Rfc298a13f1344e1a" /><Relationship Type="http://schemas.openxmlformats.org/officeDocument/2006/relationships/notesSlide" Target="/ppt/notesSlides/notesSlide3.xml" Id="Rafb04f5f49a84e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f99de63a547db" /><Relationship Type="http://schemas.openxmlformats.org/officeDocument/2006/relationships/image" Target="/ppt/media/image7.png" Id="R94bad2aaae044796" /><Relationship Type="http://schemas.openxmlformats.org/officeDocument/2006/relationships/notesSlide" Target="/ppt/notesSlides/notesSlide4.xml" Id="R43a7d4c2975d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213e4fcb74479" /><Relationship Type="http://schemas.openxmlformats.org/officeDocument/2006/relationships/notesSlide" Target="/ppt/notesSlides/notesSlide5.xml" Id="R85785865336048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5e04bb5c94015" /><Relationship Type="http://schemas.openxmlformats.org/officeDocument/2006/relationships/notesSlide" Target="/ppt/notesSlides/notesSlide6.xml" Id="R6c7ee2372b114b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9db11758e45fd" /><Relationship Type="http://schemas.openxmlformats.org/officeDocument/2006/relationships/image" Target="/ppt/media/image8.png" Id="R47aca3d28f854332" /><Relationship Type="http://schemas.openxmlformats.org/officeDocument/2006/relationships/notesSlide" Target="/ppt/notesSlides/notesSlide7.xml" Id="R5d210fe257a144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af3523d384730" /><Relationship Type="http://schemas.openxmlformats.org/officeDocument/2006/relationships/notesSlide" Target="/ppt/notesSlides/notesSlide8.xml" Id="Rffb7a649e117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edc718cab4099" /><Relationship Type="http://schemas.openxmlformats.org/officeDocument/2006/relationships/image" Target="/ppt/media/image9.png" Id="Rdcd46f252dec4fd7" /><Relationship Type="http://schemas.openxmlformats.org/officeDocument/2006/relationships/notesSlide" Target="/ppt/notesSlides/notesSlide9.xml" Id="R62b7c168294d49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21e7dd5f7424c" /><Relationship Type="http://schemas.openxmlformats.org/officeDocument/2006/relationships/image" Target="/ppt/media/image10.png" Id="R8ce2ba4e4cbf466f" /><Relationship Type="http://schemas.openxmlformats.org/officeDocument/2006/relationships/notesSlide" Target="/ppt/notesSlides/notesSlide10.xml" Id="Rc2d7feaee14a4a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c6dc8638d4600" /><Relationship Type="http://schemas.openxmlformats.org/officeDocument/2006/relationships/image" Target="/ppt/media/image11.png" Id="R55e4d77c01224c18" /><Relationship Type="http://schemas.openxmlformats.org/officeDocument/2006/relationships/notesSlide" Target="/ppt/notesSlides/notesSlide11.xml" Id="Re0913d1145cf48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35c26934745d9" /><Relationship Type="http://schemas.openxmlformats.org/officeDocument/2006/relationships/image" Target="/ppt/media/image12.png" Id="Re4a032d5792b4a5c" /><Relationship Type="http://schemas.openxmlformats.org/officeDocument/2006/relationships/notesSlide" Target="/ppt/notesSlides/notesSlide12.xml" Id="R87b3e95e12e442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4c50639ef4477" /><Relationship Type="http://schemas.openxmlformats.org/officeDocument/2006/relationships/image" Target="/ppt/media/image13.png" Id="R989f041c2f1f49f8" /><Relationship Type="http://schemas.openxmlformats.org/officeDocument/2006/relationships/notesSlide" Target="/ppt/notesSlides/notesSlide13.xml" Id="Rb2ecdc3d4c7c4a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02b4882f24181" /><Relationship Type="http://schemas.openxmlformats.org/officeDocument/2006/relationships/notesSlide" Target="/ppt/notesSlides/notesSlide14.xml" Id="Rc4e9c4a1900d4f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8dd9288404b9b" /><Relationship Type="http://schemas.openxmlformats.org/officeDocument/2006/relationships/notesSlide" Target="/ppt/notesSlides/notesSlide15.xml" Id="R248242b7467345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fa9b707cb4168" /><Relationship Type="http://schemas.openxmlformats.org/officeDocument/2006/relationships/image" Target="/ppt/media/image14.png" Id="R7bc1bb18d2434bea" /><Relationship Type="http://schemas.openxmlformats.org/officeDocument/2006/relationships/notesSlide" Target="/ppt/notesSlides/notesSlide16.xml" Id="R0122f586186549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cf12cde804f69"/>
          <a:srcRect xmlns:a="http://schemas.openxmlformats.org/drawingml/2006/main" l="21391" t="0" r="21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0"/>
            <a:ext cx="6972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03E1A-A864-40A5-A55C-4E70C95D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1b9f709ed4836"/>
          <a:stretch xmlns:a="http://schemas.openxmlformats.org/drawingml/2006/main"/>
        </p:blipFill>
        <p:spPr>
          <a:xfrm xmlns:a="http://schemas.openxmlformats.org/drawingml/2006/main">
            <a:off x="685800" y="590550"/>
            <a:ext cx="2362200" cy="76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C15F3-4B3F-475D-ADE5-DB4B57E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BRAND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4033E-E0D2-414A-BC30-E47FD654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Built to be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4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seen in public.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BCBA5-D957-47EC-8D55-05B2233B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C8CFD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C8CFD3"/>
                </a:solidFill>
                <a:latin typeface="Avenir Next"/>
                <a:ea typeface="Avenir Next"/>
                <a:cs typeface="Avenir Next"/>
              </a:rPr>
              <a:t>Logo, visual system, interface templates and presentation layouts for Island Media 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EC829-146E-4CA4-B57D-DADBAB5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C385-149D-4F6A-A637-2F8ACB0C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3B02E-B73B-4A0E-A497-B0108C26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AC00B-FF1F-4AFB-A441-BC4F908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24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0032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06B0A-1E9B-4573-ADFF-F0FA6A9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THE PUBLIC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9F0D9-6E0C-47C8-A409-447032D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The identity is built around the media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562A2-2219-41ED-B783-C24C014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Two opposing corners hold a simple I. The result reads as an ad surface, a screen, a crop and an island identity without relying on a literal billboard icon.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59EB-B743-44B8-B84F-288FF6E6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35E85-4F03-4D69-B3F1-784894D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C1A8B-AD33-4B2F-853F-12BC5ECE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The frame can hold any format, from a bus rear to a portrait screen.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76260-CD2B-4F8B-B805-09B4779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7F778-CF6A-485E-ABAE-0A2573B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5F77C-0885-4EFE-8A0B-2E08E6E6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Coral marks the action or point that needs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79FA0-4BD1-4882-9E8F-528451BE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CD10E-FAE6-42BB-88B9-F840D59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729D4-B23A-4710-8A07-F7DFB75E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The central I keeps the operator and client experience connected.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740018627410e"/>
          <a:stretch xmlns:a="http://schemas.openxmlformats.org/drawingml/2006/main"/>
        </p:blipFill>
        <p:spPr>
          <a:xfrm xmlns:a="http://schemas.openxmlformats.org/drawingml/2006/main">
            <a:off x="6953250" y="169545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45FC6-51CE-442A-84F4-2840EA55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15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PUBLIC 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2F73E-1721-4E8D-BFE8-D1CB41B4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9352C-33E5-4B52-8D26-B6E9A65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AB8AA-3D11-4D82-BCE8-4564157E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272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C3835-BBCE-40F7-AE23-2145F20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LOGO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B95AB-D105-481F-A275-F0C4193E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The mark stays clear at every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05E57-7FEC-4FCA-8755-7E4F622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1625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989b68cd84180"/>
          <a:stretch xmlns:a="http://schemas.openxmlformats.org/drawingml/2006/main"/>
        </p:blipFill>
        <p:spPr>
          <a:xfrm xmlns:a="http://schemas.openxmlformats.org/drawingml/2006/main">
            <a:off x="1185386" y="2247900"/>
            <a:ext cx="4163378" cy="1343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6A8CA-51FD-402A-9DCF-A7D6FAD1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PRIMARY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A6D48-8E1D-494F-AC36-7F3B748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57350"/>
            <a:ext cx="54673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4e7ed4de14ce1"/>
          <a:stretch xmlns:a="http://schemas.openxmlformats.org/drawingml/2006/main"/>
        </p:blipFill>
        <p:spPr>
          <a:xfrm xmlns:a="http://schemas.openxmlformats.org/drawingml/2006/main">
            <a:off x="6690836" y="2247900"/>
            <a:ext cx="4163378" cy="1343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20A7-2B85-4DEB-83D9-C1077B8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REVERSE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4FBE0-266B-4A96-A235-BEC9A160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95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98a13f1344e1a"/>
          <a:stretch xmlns:a="http://schemas.openxmlformats.org/drawingml/2006/main"/>
        </p:blipFill>
        <p:spPr>
          <a:xfrm xmlns:a="http://schemas.openxmlformats.org/drawingml/2006/main">
            <a:off x="1238250" y="43624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4C6B9-5A9E-4620-9848-AA143A6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COMPACT 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26F79-C5C1-43E9-BF99-4DD1F30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Full logo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0062-7DEA-464B-98E8-3DAE4640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96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Use for navigation and proposals. Minimum 160 px on screen or 35 mm in print.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4CF37-1FAF-4592-BF77-E11E226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Compact 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CBC74-9330-4479-9D62-239765CF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Use where the wordmark is already present. Minimum 24 px on screen or 8 mm in print.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E4DE4-14B5-4D2E-BF9F-C1F428F5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D0CC3-F2CD-4E5B-828B-C53DF0FE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EB67D-4A6D-4752-AB02-64832DC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1581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70B6E-843F-46F7-94F6-43ACD1F0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LOGO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5E1C9-E3E9-4BE9-9E03-EEBD7979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Give the logo space and keep it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EA459-847C-4450-B57E-943C960E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5720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0A053-B70B-478C-8231-F3D6611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CLEAR 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EAF70-73FE-4604-A3E4-792F64D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7175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3BA"/>
            </a:solidFill>
            <a:prstDash val="dash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ad2aaae044796"/>
          <a:stretch xmlns:a="http://schemas.openxmlformats.org/drawingml/2006/main"/>
        </p:blipFill>
        <p:spPr>
          <a:xfrm xmlns:a="http://schemas.openxmlformats.org/drawingml/2006/main">
            <a:off x="1947863" y="2952750"/>
            <a:ext cx="2066925" cy="66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534EC-0A58-4FF7-BE37-985B732E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Keep at least the MEDIA CO. cap height around the full lockup.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B1F5F-21D2-48A4-9EC0-C8EC2BD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66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34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8734D"/>
                </a:solidFill>
                <a:latin typeface="Avenir Next"/>
                <a:ea typeface="Avenir Next"/>
                <a:cs typeface="Avenir Next"/>
              </a:rPr>
              <a:t>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969E2-0113-4008-B732-BD4126D1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E3808-5856-46E7-A521-05FBBE0F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Use approved artwork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72379-4077-4A61-9624-1CCC80AA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478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Choose the light, reverse or monochrome version that gives the strongest contrast.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8AB7A-1579-4AB6-BA8A-035F512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A9700-8FE3-4C68-9F84-5B96592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Hold it on a clean 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7C380-14F6-4568-8856-6AAC8D3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78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Use Carbon, Warm White or a quiet part of an image.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15E1A-AB26-4AA1-8BCE-1CBA90D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1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3323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33232"/>
                </a:solidFill>
                <a:latin typeface="Avenir Next"/>
                <a:ea typeface="Avenir Next"/>
                <a:cs typeface="Avenir Next"/>
              </a:rPr>
              <a:t>DO NOT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69BCE-9691-4AA5-964A-9835E354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Stretch, rotate, outline, add a shadow, use a gradient or replace the central 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37B15-2078-45BD-B4D2-2AF3BE62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DE5ED-F095-477B-97FC-E8C55C7D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F7513-5F2F-4BE9-9872-62F49683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5990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37880-709C-46FA-A7C9-1553AF07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COLOUR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694C0-7DE1-487B-8941-D380FE00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Carbon leads. Coral makes the moment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03824-E0CC-4D92-A76A-5A8F6E34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6479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BC5CF-431B-4D2D-984D-E948D763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3A9FB-13A0-49F0-922D-37FCB05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#101820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BE7F6-0BA0-4A58-9512-91CEEB64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669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60E42-867B-4799-8322-42314732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Signal Coral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7BBE2-5074-41DF-A1BD-4FA7DC48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#FF5A3D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A001F-7113-42DC-9176-C533C34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33550"/>
            <a:ext cx="2095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3206C-6B02-4E1A-9FD7-549904C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Warm White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9FC1F-5348-4FCF-902B-2FF98C99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#F6F4EF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EB7BD-B1F9-4821-80EB-0E5C1DED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33550"/>
            <a:ext cx="2095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6327C-01A5-4D2F-9623-61E7CDB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Atlantic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B048F-FA9D-405D-886D-2FB3948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#17324D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78AE0-C63B-4031-81C5-193D3E4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33550"/>
            <a:ext cx="1714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B1410-B4B6-4DEB-892C-C5E4AA1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Concrete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35E54-63D0-4449-B78E-E8571B2A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48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#AAB3BA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401D4-2768-4DC1-B5C5-C7E590C4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Use Coral for action and emphasis, not for long text blocks. Carbon on Coral passes WCAG AA for normal text at 5.78:1. White on Coral is for large display type only.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D6027-9572-48ED-9636-8F3F101E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D61CE-032C-488D-8C32-5B9F4E5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EF9B3-010E-48CD-B9F3-26E37381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2660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919085-8C55-4220-AF08-0331D95B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TYPOGRAPHY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60396-2F8E-4AE4-933D-8B968A5C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One typeface keeps every surface direct and legible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49C42-5C26-44AD-ABD6-93790C40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230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230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Aa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238E0-5CFC-4B22-B28F-390CCDA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AVENIR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1083A-3822-4569-9762-E9B6DDC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61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A practical geometric sans that stays clear in a large campaign headline and on a fitter’s phone.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7F6C0-607B-4B00-AFC8-E315421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Fallback: Avenir, Helvetica Neue, Arial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DFDE3-BBAA-4382-AFA2-0B482029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0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Display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FE364-9557-49A9-9E40-755497C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0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56 /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F9F3E-41D9-4FF1-A5A6-E2B8D47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2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Out there, clearly managed.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5FAA7-1AE4-47A5-ABD8-B8F26292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66EE8-8BEB-4828-8C90-A710B34F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Heading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EBE7F-DB78-4B12-8228-7B75FA1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0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40 / 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E11F1-7BBD-4D49-A8B2-79DFE34B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Out there, clearly managed.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D6005-9F8F-4BC9-98CF-80CEBC4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56330-AC82-4601-9D27-6A8EEF0E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04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Heading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8AE47-B521-4CF9-AA61-56D50D48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004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32 / 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AF1A3-6EA6-4A6C-84EA-B427263B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Out there, clearly managed.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A1436-2D43-4459-A3A1-3A398734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41A30-607C-4E02-A918-1F37287E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00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Body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4E675-3244-436D-B4EE-628FF419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0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16 / 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BDAA2-BD28-476E-8DCE-7C3BD1F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Out there, clearly managed.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99F43-4338-4346-8CED-D2DAD4E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B0F8F-C60B-4B76-A1E9-5CE10B53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00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Label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21130-C5E9-41CC-848D-D65094D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13 / 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C4850-6E68-4035-BE4A-2EFA429C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Out there, clearly managed.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7B7B6-3B31-4C46-9946-BE01B1FF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626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35A98-092D-4C96-B807-E4D6CBD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C252D-5590-4E03-B3B0-DEC7FE2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C187D9-C82C-4174-A35B-C064A36F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455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C6E00-2CD0-45C9-8B7F-3E7CEEF8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LAYOUT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2AA21-0DF7-461E-8597-DB0CCC35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14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Use the frame to hold attention, not decorate everything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D6C2B-7EDC-4536-BCAF-2A76A1FF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8D0D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C8D0D4"/>
                </a:solidFill>
                <a:latin typeface="Avenir Next"/>
                <a:ea typeface="Avenir Next"/>
                <a:cs typeface="Avenir Next"/>
              </a:rPr>
              <a:t>Keep one dominant composition. Let the corner device identify the media surface, then leave the rest of the layout quiet.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4D4A9-360E-4532-9DF2-54171668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AD073-6A5E-4037-AF83-BD72155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8 px rhythm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38A82-CEC0-4876-B9DC-5097A5C1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3829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Build spacing in simple multiples of 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2C111-2999-4895-92B7-638BD81D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754C8-9224-4741-A15E-44347112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Straight media, soft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B9A83-4180-4A2A-BB8E-4246643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Keep campaign frames square. Use 10 to 12 px radii for controls and surfaces.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a3d28f854332"/>
          <a:srcRect xmlns:a="http://schemas.openxmlformats.org/drawingml/2006/main" l="2668" t="0" r="26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14350"/>
            <a:ext cx="4286250" cy="5657850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883D4-D3AF-4E39-8EB4-320B9C03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195E8-142D-4803-BBD4-484C9AF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81538-C7C0-4200-97AE-F42D2890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2F66D-C5E9-4B09-A8F7-CC90D44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038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EC9E4-5384-4290-B2F7-D4F4A34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F9A7A-1876-4C2B-BDE7-FA7B6D2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C9C53-DDEB-4563-98D2-FF76141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1307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B80BD-1113-425D-8022-0BC1BF4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INTERFACE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6F4EE-6F24-4B47-AAEC-EBB528D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The product system stays bold, calm and accessible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34A7B-4EBD-4F59-B369-E9561CE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Use Coral for the main next step. Keep status colours separate so attention, success and risk are never confused with the brand accent.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47AA8-2A3A-4477-B725-59BB5E7A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8 px spacing · 10 px controls · 12 px surfaces · 20 px feature panels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C5F67-30C1-4FD2-97B7-9E9270D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Primary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E4324-2B5B-4D57-BFB6-412E6A2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5429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F27E4-5BE6-4A83-AC1D-0C1D36CF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764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Check 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778E3-05EC-4254-89FB-D59262C0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Neutral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C9D8B-50CB-4A8E-899A-711004D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542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DFD74-333A-48BF-BE5D-573506F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Clear hierarchy, one border, no decorative shadow stack.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F7F60-E4DE-47C3-B7D1-122B2488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Operational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32B90-547E-426A-BD87-5CD5968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76850"/>
            <a:ext cx="1276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C90F3-985E-485D-A597-0CE424D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102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3671D-91F1-48EE-BB2D-488D2BD7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1276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5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FBB85-84C9-4CA2-901E-EC5661EF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102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6AD66-2E88-4454-B9C6-4B13821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76850"/>
            <a:ext cx="1276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3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2BB82-A7F3-42D5-8667-05693A96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102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2CFBC-77F0-49AA-983B-38DC578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1276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3EB94-2D90-48D0-BAAF-CD5B1CA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102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32729-4A84-4913-8638-C336C2E9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D7643-6631-45C6-A144-A501D096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7C70C-1224-41BB-AE94-3612156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4195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F46A0-2295-4974-8AD5-CF86C58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DESKTOP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78F95-FA54-45F3-B225-3BC77D50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Management gets fast hierarchy and clear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6815C-5E8A-45E3-9178-2AB73B30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The dashboard leads with work that needs a decision. Coral flags attention without turning the whole interface into an alert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CF4D5-1FD4-4F02-A74C-A2B2639C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5F79E-AA2F-49C7-B98C-17F6BA10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Lead with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D9C5D-4E53-4C3B-8369-057DB06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Open requests and blocked work appear before passive totals.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B349E-38EC-4E3D-97CA-03BEC8C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79C9F-37CF-4AD6-A6BC-31D71A23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Keep states explicit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D7087-52A6-4B72-B253-5A47C2E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Every chip uses a label, not colour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787EF-0ED9-4246-9B12-6706F690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7524750" cy="4514850"/>
          </a:xfrm>
          <a:prstGeom xmlns:a="http://schemas.openxmlformats.org/drawingml/2006/main" prst="roundRect">
            <a:avLst>
              <a:gd name="adj" fmla="val 29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46f252dec4fd7"/>
          <a:stretch xmlns:a="http://schemas.openxmlformats.org/drawingml/2006/main"/>
        </p:blipFill>
        <p:spPr>
          <a:xfrm xmlns:a="http://schemas.openxmlformats.org/drawingml/2006/main">
            <a:off x="4345305" y="1657350"/>
            <a:ext cx="6797040" cy="4248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F545D-6267-4E24-812A-8988939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0DDDC-C5D0-4055-B8EB-B880341D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1760F-031F-4658-97B8-4D60A25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73202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49A22-EFB8-468F-AD5F-25A04CFC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CLIENT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AFB2C-E70D-46D9-B43F-5A54B14F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Clients see media as simple, useful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62601-BFE5-4CA8-A684-3799BAB4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Strong campaign language up front, plain filters in the middle and honest availability on every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4F556-5AB3-4B3D-AB91-7071392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2ba4e4cbf466f"/>
          <a:stretch xmlns:a="http://schemas.openxmlformats.org/drawingml/2006/main"/>
        </p:blipFill>
        <p:spPr>
          <a:xfrm xmlns:a="http://schemas.openxmlformats.org/drawingml/2006/main">
            <a:off x="3472424" y="2228850"/>
            <a:ext cx="5247152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1899D-5DD8-460D-A238-3F46E2E2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BA076-F4F5-4D68-8BC8-BFA8121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6BFFC-A907-45C7-9175-5B5D243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340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3A0C3-E1BA-4DE5-9D5F-B4E45C03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5DAC-4E56-4F2E-B383-A4299708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1787C-375C-4A12-819D-3634C780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E2A4D-2C82-4D12-992E-46B9F98C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4005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6B08F-3109-43B1-B497-0362576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FITTER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2A244-7264-43FA-9761-881FC707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One clear next action survives a busy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B0E83-67A2-4EDD-91D8-A22844E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38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C8D0D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C8D0D4"/>
                </a:solidFill>
                <a:latin typeface="Avenir Next"/>
                <a:ea typeface="Avenir Next"/>
                <a:cs typeface="Avenir Next"/>
              </a:rPr>
              <a:t>Location, time and instructions sit above the progress action. The screen stays usable in one hand and does not hide failure or blocked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90A05-D8C7-4D7A-99F1-673FFC9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66340-B9E6-4FE1-BBDB-681DC7C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44 px minimum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55FBF-8195-45CE-879F-C3F1548F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Large targets support field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9F4DE-CAEC-40C3-9EBC-3EB9D50B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1239D-3688-48D6-A6A5-34C48988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Action before decoration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FFA4D-DA0D-4DAC-BA88-3451E99C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3924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The primary button states the next real job step.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4d77c01224c18"/>
          <a:stretch xmlns:a="http://schemas.openxmlformats.org/drawingml/2006/main"/>
        </p:blipFill>
        <p:spPr>
          <a:xfrm xmlns:a="http://schemas.openxmlformats.org/drawingml/2006/main">
            <a:off x="6497003" y="514350"/>
            <a:ext cx="3960495" cy="5657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2DBD-1FBF-4C8E-ADA9-388947E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A1D27-0405-4CBF-949F-1ABD59A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ISLAND MEDIA CO. / BRAND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58211-0F23-4238-8117-99EAC40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9326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032d5792b4a5c"/>
          <a:stretch xmlns:a="http://schemas.openxmlformats.org/drawingml/2006/main"/>
        </p:blipFill>
        <p:spPr>
          <a:xfrm xmlns:a="http://schemas.openxmlformats.org/drawingml/2006/main">
            <a:off x="685800" y="6096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2F3F5-1D26-495F-AC83-9BB263CE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EDITABLE PRESENTATION TEMPLATES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D40B0-AB14-45EA-928D-9069E82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04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65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The same system, ready for campaign proposals and reviews.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BAE7C-3BAA-4611-B0F2-354D1848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9D5D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C9D5DE"/>
                </a:solidFill>
                <a:latin typeface="Avenir Next"/>
                <a:ea typeface="Avenir Next"/>
                <a:cs typeface="Avenir Next"/>
              </a:rPr>
              <a:t>Duplicate the next four slides in PowerPoint and replace the sample copy or image area.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39991-A031-4E29-A8EE-89B32F20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457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43BB6-2D4D-417E-AC37-CE68C6F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FF572-32BE-420C-81BF-6B52E9C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934075"/>
            <a:ext cx="457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B71C-6D2D-4FF5-9A72-2CA8AA0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581650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89D87-C5EB-4E49-8D6C-CDF01A6A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68600-EB33-4962-9498-FB435F81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ISLAND MEDIA CO. / TEMPLATE SECTION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6B9C1-D18C-432E-8811-686AB88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0197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f041c2f1f49f8"/>
          <a:stretch xmlns:a="http://schemas.openxmlformats.org/drawingml/2006/main"/>
        </p:blipFill>
        <p:spPr>
          <a:xfrm xmlns:a="http://schemas.openxmlformats.org/drawingml/2006/main">
            <a:off x="685800" y="590550"/>
            <a:ext cx="2362200" cy="762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086AC-E48C-4A6F-B2AE-D40436E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CAMPAIGN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5ACB8-633F-4755-9FFB-6BE67DCC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Campaign title goes 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18282-92E8-43E8-8153-35D529C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Client name · Month YYYY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339D-B371-4B48-938E-7D1570CC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85800"/>
            <a:ext cx="4381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1EABA-C7AF-44D0-9762-BF10E38A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85800"/>
            <a:ext cx="104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42E45-26E0-47E1-840B-8A83BEF7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915025"/>
            <a:ext cx="4381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13474-41E0-43AB-99DC-7D58B23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581650"/>
            <a:ext cx="104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BEF4B-A7A2-4AE5-9812-8150330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7ABDF-6730-4E23-ABF6-D40C3D1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ISLAND MEDIA CO. / DUPLICATE THIS 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A468E-097B-42E9-8004-DC96D2C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474808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663C7-33C1-4564-99CB-0489E9D3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CONTENT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5460B-00F4-4D2C-92DE-33F717BC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One clear point per slide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019A-3B53-478D-AC8C-26D1A27F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Write one short sentence that explains the point and why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C93F6-84A0-4199-85DF-6A19267B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07038-C70C-4498-B374-C6D4EA2E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F1CC7-6795-4C80-A775-8CFF77FB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F2A1-6F88-4F2F-B32B-2D0DEC15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Add one fact, example or decision that supports the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D168B-2261-4654-AFC6-3EE35926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A6373-1AA8-41D1-B338-1BB05275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DE756-B899-41AC-928B-7F43B83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Explain the practical consequence in plain English.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81FAA-0893-4BC0-989E-1724DDC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7881D-A274-4DEF-AFF4-B79EA498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FF3CB-81F3-49E8-8BB2-03DEA93C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End with the next decision, owner or deadline.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A296A-A44B-4715-96AF-913BF29E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4C25F-EFDC-4AF0-8476-CAC5E41F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DUPLICATE THIS CONTENT SLIDE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4FD81-C02C-4C9E-8A62-075434CC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64895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7E944-2A4F-4A18-8B8B-418E78CE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IMAGE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40126-339A-4D57-A7A7-145E1FA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476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Let the placement do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0A0F-F181-42C4-B462-59E3C44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Use one strong image and only the copy needed to explain why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42F5-0AB6-4752-9091-AFE5835A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1432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E951E-A8C1-4A88-82CE-8605D032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Add one clear 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AC28A-8189-4BD3-9D33-39B580E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85800"/>
            <a:ext cx="5410200" cy="54864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D5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881B1-F817-4706-BCD1-156CE7B0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14400"/>
            <a:ext cx="38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CD713-CBB8-46C1-B606-0E6A6CF6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14400"/>
            <a:ext cx="85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03387-3550-4B93-86C4-824A75E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57875"/>
            <a:ext cx="38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803F2-B2C1-4D8E-ACFE-FFA9F75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562600"/>
            <a:ext cx="85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05424-DB5A-4976-B0B5-13EA7E8B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2606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26069"/>
                </a:solidFill>
                <a:latin typeface="Avenir Next"/>
                <a:ea typeface="Avenir Next"/>
                <a:cs typeface="Avenir Next"/>
              </a:rPr>
              <a:t>REPLACE WITH ONE STRONG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C1059-298F-452E-9E8A-A71C3A2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088DF-4855-4D9B-A50E-A5B43800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ISLAND MEDIA CO. / IMAGE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8B9BC-94BD-4304-8A46-57D9E39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7A81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31074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1bb18d2434bea"/>
          <a:stretch xmlns:a="http://schemas.openxmlformats.org/drawingml/2006/main"/>
        </p:blipFill>
        <p:spPr>
          <a:xfrm xmlns:a="http://schemas.openxmlformats.org/drawingml/2006/main">
            <a:off x="685800" y="6096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06B37-A6C9-4FAD-B100-7C188D7D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5A3D"/>
                </a:solidFill>
                <a:latin typeface="Avenir Next"/>
                <a:ea typeface="Avenir Next"/>
                <a:cs typeface="Avenir Next"/>
              </a:rPr>
              <a:t>DECISION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89593-DB6B-4041-B101-47D40907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F6F4EF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6F4EF"/>
                </a:solidFill>
                <a:latin typeface="Avenir Next"/>
                <a:ea typeface="Avenir Next"/>
                <a:cs typeface="Avenir Next"/>
              </a:rPr>
              <a:t>What needs deciding next?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1BF32-4871-4DED-AB3D-57DB1010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State the decision, owner and due date in one sentence.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276E0-3F00-491E-9C7A-BE360366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3905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5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08914-C076-4BA0-93BD-E322ABF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Decision · Owner ·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C943E-9CE4-49F1-8E6C-ECB7C4DF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149F8-5B98-489C-AA08-1EA999C2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ISLAND MEDIA CO. / DUPLICATE THIS CLOSE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81ACC-84E8-4E55-B469-9DB86DC4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3BA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8319099"/>
      </p:ext>
    </p:extLst>
  </p:cSld>
</p:sld>
</file>

<file path=ppt/theme/theme1.xml><?xml version="1.0" encoding="utf-8"?>
<a:theme xmlns:a="http://schemas.openxmlformats.org/drawingml/2006/main" name="ChatGPT">
  <a:themeElements>
    <a:clrScheme name="Island Media Co">
      <a:dk1>
        <a:srgbClr val="101820"/>
      </a:dk1>
      <a:lt1>
        <a:srgbClr val="FFFFFF"/>
      </a:lt1>
      <a:dk2>
        <a:srgbClr val="17324D"/>
      </a:dk2>
      <a:lt2>
        <a:srgbClr val="F6F4EF"/>
      </a:lt2>
      <a:accent1>
        <a:srgbClr val="FF5A3D"/>
      </a:accent1>
      <a:accent2>
        <a:srgbClr val="17324D"/>
      </a:accent2>
      <a:accent3>
        <a:srgbClr val="08734D"/>
      </a:accent3>
      <a:accent4>
        <a:srgbClr val="945500"/>
      </a:accent4>
      <a:accent5>
        <a:srgbClr val="C33232"/>
      </a:accent5>
      <a:accent6>
        <a:srgbClr val="AAB3BA"/>
      </a:accent6>
      <a:hlink>
        <a:srgbClr val="FF5A3D"/>
      </a:hlink>
      <a:folHlink>
        <a:srgbClr val="17324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sland Media C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2026-08-30T20:40:30.8230000Z</dcterms:created>
  <dcterms:modified xsi:type="dcterms:W3CDTF">2026-08-30T20:40:30.8230000Z</dcterms:modified>
</coreProperties>
</file>